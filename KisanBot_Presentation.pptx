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6270955200000"/>
          </a:xfrm>
          <a:prstGeom prst="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270955200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Segoe UI"/>
              </a:rPr>
              <a:t>🌾  KisanBot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8346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10B981"/>
                </a:solidFill>
                <a:latin typeface="Segoe UI"/>
              </a:rPr>
              <a:t>A Collaborative Multi-Agent Farm Advisory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65760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E5E7EB"/>
                </a:solidFill>
                <a:latin typeface="Segoe UI"/>
              </a:rPr>
              <a:t>Urdu-speaking AI assistant for small-scale Pakistani farmers.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94A3B8"/>
                </a:solidFill>
                <a:latin typeface="Segoe UI"/>
              </a:rPr>
              <a:t>Powered by cooperating specialist agents — grounded in real data, honest about uncertainty.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5212080"/>
            <a:ext cx="4206240" cy="548640"/>
          </a:xfrm>
          <a:prstGeom prst="roundRect">
            <a:avLst/>
          </a:prstGeom>
          <a:solidFill>
            <a:srgbClr val="151B2B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5230368"/>
            <a:ext cx="42062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E5E7EB"/>
                </a:solidFill>
                <a:latin typeface="Segoe UI"/>
              </a:rPr>
              <a:t>Assistant persona:  ساتھی  (Saathi)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28016" cy="8229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B981"/>
                </a:solidFill>
                <a:latin typeface="Segoe UI"/>
              </a:rPr>
              <a:t>THE USER</a:t>
            </a:r>
          </a:p>
          <a:p>
            <a:pPr algn="l"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Who this is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1">
                <a:solidFill>
                  <a:srgbClr val="10B981"/>
                </a:solidFill>
                <a:latin typeface="Segoe UI"/>
              </a:rPr>
              <a:t>•  </a:t>
            </a:r>
            <a:r>
              <a:rPr sz="1800" b="1">
                <a:solidFill>
                  <a:srgbClr val="E5E7EB"/>
                </a:solidFill>
                <a:latin typeface="Segoe UI"/>
              </a:rPr>
              <a:t>Small-scale farmers across Pakistan</a:t>
            </a:r>
            <a:r>
              <a:rPr sz="1800">
                <a:solidFill>
                  <a:srgbClr val="94A3B8"/>
                </a:solidFill>
                <a:latin typeface="Segoe UI"/>
              </a:rPr>
              <a:t> — the core user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10B981"/>
                </a:solidFill>
                <a:latin typeface="Segoe UI"/>
              </a:rPr>
              <a:t>•  </a:t>
            </a:r>
            <a:r>
              <a:rPr sz="1800" b="1">
                <a:solidFill>
                  <a:srgbClr val="E5E7EB"/>
                </a:solidFill>
                <a:latin typeface="Segoe UI"/>
              </a:rPr>
              <a:t>Limited formal education; some elderly</a:t>
            </a:r>
            <a:r>
              <a:rPr sz="1800">
                <a:solidFill>
                  <a:srgbClr val="94A3B8"/>
                </a:solidFill>
                <a:latin typeface="Segoe UI"/>
              </a:rPr>
              <a:t> — many prefer speaking over reading/typing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10B981"/>
                </a:solidFill>
                <a:latin typeface="Segoe UI"/>
              </a:rPr>
              <a:t>•  </a:t>
            </a:r>
            <a:r>
              <a:rPr sz="1800" b="1">
                <a:solidFill>
                  <a:srgbClr val="E5E7EB"/>
                </a:solidFill>
                <a:latin typeface="Segoe UI"/>
              </a:rPr>
              <a:t>Basic Android phones</a:t>
            </a:r>
            <a:r>
              <a:rPr sz="1800">
                <a:solidFill>
                  <a:srgbClr val="94A3B8"/>
                </a:solidFill>
                <a:latin typeface="Segoe UI"/>
              </a:rPr>
              <a:t> — on inconsistent, expensive mobile data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10B981"/>
                </a:solidFill>
                <a:latin typeface="Segoe UI"/>
              </a:rPr>
              <a:t>•  </a:t>
            </a:r>
            <a:r>
              <a:rPr sz="1800" b="1">
                <a:solidFill>
                  <a:srgbClr val="E5E7EB"/>
                </a:solidFill>
                <a:latin typeface="Segoe UI"/>
              </a:rPr>
              <a:t>Would rather just talk to it</a:t>
            </a:r>
            <a:r>
              <a:rPr sz="1800">
                <a:solidFill>
                  <a:srgbClr val="94A3B8"/>
                </a:solidFill>
                <a:latin typeface="Segoe UI"/>
              </a:rPr>
              <a:t> — than navigate a cluttered 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120640"/>
            <a:ext cx="10607040" cy="914400"/>
          </a:xfrm>
          <a:prstGeom prst="roundRect">
            <a:avLst/>
          </a:prstGeom>
          <a:solidFill>
            <a:srgbClr val="151B2B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5138928"/>
            <a:ext cx="10241280" cy="8778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E5E7EB"/>
                </a:solidFill>
                <a:latin typeface="Segoe UI"/>
              </a:rPr>
              <a:t>Design test: would this work for someone who finds a cluttered app confusing and would rather speak than type?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KisanBot — Multi-Agent Farm Advisory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28016" cy="82296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EF4444"/>
                </a:solidFill>
                <a:latin typeface="Segoe UI"/>
              </a:rPr>
              <a:t>STARTING POINT</a:t>
            </a:r>
          </a:p>
          <a:p>
            <a:pPr algn="l"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What the code was — a facade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700" b="1">
                <a:solidFill>
                  <a:srgbClr val="EF4444"/>
                </a:solidFill>
                <a:latin typeface="Segoe UI"/>
              </a:rPr>
              <a:t>•  </a:t>
            </a:r>
            <a:r>
              <a:rPr sz="1700" b="1">
                <a:solidFill>
                  <a:srgbClr val="E5E7EB"/>
                </a:solidFill>
                <a:latin typeface="Segoe UI"/>
              </a:rPr>
              <a:t>"Multi-agent" was fake</a:t>
            </a:r>
            <a:r>
              <a:rPr sz="1700">
                <a:solidFill>
                  <a:srgbClr val="94A3B8"/>
                </a:solidFill>
                <a:latin typeface="Segoe UI"/>
              </a:rPr>
              <a:t> — CrewAI / AutoGen / LangGraph / BeeAI imported but never used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EF4444"/>
                </a:solidFill>
                <a:latin typeface="Segoe UI"/>
              </a:rPr>
              <a:t>•  </a:t>
            </a:r>
            <a:r>
              <a:rPr sz="1700" b="1">
                <a:solidFill>
                  <a:srgbClr val="E5E7EB"/>
                </a:solidFill>
                <a:latin typeface="Segoe UI"/>
              </a:rPr>
              <a:t>Each "agent" = one Gemini role-play prompt</a:t>
            </a:r>
            <a:r>
              <a:rPr sz="1700">
                <a:solidFill>
                  <a:srgbClr val="94A3B8"/>
                </a:solidFill>
                <a:latin typeface="Segoe UI"/>
              </a:rPr>
              <a:t> — "You are simulating a CrewAI crew…"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EF4444"/>
                </a:solidFill>
                <a:latin typeface="Segoe UI"/>
              </a:rPr>
              <a:t>•  </a:t>
            </a:r>
            <a:r>
              <a:rPr sz="1700" b="1">
                <a:solidFill>
                  <a:srgbClr val="E5E7EB"/>
                </a:solidFill>
                <a:latin typeface="Segoe UI"/>
              </a:rPr>
              <a:t>Routing was a hardcoded if/elif chain</a:t>
            </a:r>
            <a:r>
              <a:rPr sz="1700">
                <a:solidFill>
                  <a:srgbClr val="94A3B8"/>
                </a:solidFill>
                <a:latin typeface="Segoe UI"/>
              </a:rPr>
              <a:t> — not real tool/function calling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EF4444"/>
                </a:solidFill>
                <a:latin typeface="Segoe UI"/>
              </a:rPr>
              <a:t>•  </a:t>
            </a:r>
            <a:r>
              <a:rPr sz="1700" b="1">
                <a:solidFill>
                  <a:srgbClr val="E5E7EB"/>
                </a:solidFill>
                <a:latin typeface="Segoe UI"/>
              </a:rPr>
              <a:t>Fabricated data</a:t>
            </a:r>
            <a:r>
              <a:rPr sz="1700">
                <a:solidFill>
                  <a:srgbClr val="94A3B8"/>
                </a:solidFill>
                <a:latin typeface="Segoe UI"/>
              </a:rPr>
              <a:t> — NDVI/soil-moisture invented with random.seed; weather hardcoded by month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EF4444"/>
                </a:solidFill>
                <a:latin typeface="Segoe UI"/>
              </a:rPr>
              <a:t>•  </a:t>
            </a:r>
            <a:r>
              <a:rPr sz="1700" b="1">
                <a:solidFill>
                  <a:srgbClr val="E5E7EB"/>
                </a:solidFill>
                <a:latin typeface="Segoe UI"/>
              </a:rPr>
              <a:t>No image diagnosis agent</a:t>
            </a:r>
            <a:r>
              <a:rPr sz="1700">
                <a:solidFill>
                  <a:srgbClr val="94A3B8"/>
                </a:solidFill>
                <a:latin typeface="Segoe UI"/>
              </a:rPr>
              <a:t> — and pesticide advice had zero safety checks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EF4444"/>
                </a:solidFill>
                <a:latin typeface="Segoe UI"/>
              </a:rPr>
              <a:t>•  </a:t>
            </a:r>
            <a:r>
              <a:rPr sz="1700" b="1">
                <a:solidFill>
                  <a:srgbClr val="E5E7EB"/>
                </a:solidFill>
                <a:latin typeface="Segoe UI"/>
              </a:rPr>
              <a:t>Two divergent brains</a:t>
            </a:r>
            <a:r>
              <a:rPr sz="1700">
                <a:solidFill>
                  <a:srgbClr val="94A3B8"/>
                </a:solidFill>
                <a:latin typeface="Segoe UI"/>
              </a:rPr>
              <a:t> — client-side JS rules + Python server, duplicated logic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KisanBot — Multi-Agent Farm Advisory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28016" cy="8229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B981"/>
                </a:solidFill>
                <a:latin typeface="Segoe UI"/>
              </a:rPr>
              <a:t>THE SOLUTION</a:t>
            </a:r>
          </a:p>
          <a:p>
            <a:pPr algn="l"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A real cooperating agent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E5E7EB"/>
                </a:solidFill>
                <a:latin typeface="Segoe UI"/>
              </a:rPr>
              <a:t>One Orchestrator holds the conversation and routes to specialists. It never answers farming questions from its own knowledge — it delegates, then composes one clear Urdu reply.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651760"/>
            <a:ext cx="3429000" cy="1417320"/>
          </a:xfrm>
          <a:prstGeom prst="roundRect">
            <a:avLst/>
          </a:prstGeom>
          <a:solidFill>
            <a:srgbClr val="151B2B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761488"/>
            <a:ext cx="31546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🧭 Orchestrator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Classify · ask 1 question · route · compose Urdu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651760"/>
            <a:ext cx="3429000" cy="1417320"/>
          </a:xfrm>
          <a:prstGeom prst="roundRect">
            <a:avLst/>
          </a:prstGeom>
          <a:solidFill>
            <a:srgbClr val="151B2B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761488"/>
            <a:ext cx="31546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🌤️ Weather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Google Weather → farming implication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651760"/>
            <a:ext cx="3429000" cy="1417320"/>
          </a:xfrm>
          <a:prstGeom prst="roundRect">
            <a:avLst/>
          </a:prstGeom>
          <a:solidFill>
            <a:srgbClr val="151B2B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2761488"/>
            <a:ext cx="31546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🌱 Crop Recommendation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Grounded in this location's soil + weather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297680"/>
            <a:ext cx="3429000" cy="1417320"/>
          </a:xfrm>
          <a:prstGeom prst="roundRect">
            <a:avLst/>
          </a:prstGeom>
          <a:solidFill>
            <a:srgbClr val="151B2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407408"/>
            <a:ext cx="31546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🐛 Crop Protection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Cultural-first · banned-list screen · disclaimer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4297680"/>
            <a:ext cx="3429000" cy="1417320"/>
          </a:xfrm>
          <a:prstGeom prst="roundRect">
            <a:avLst/>
          </a:prstGeom>
          <a:solidFill>
            <a:srgbClr val="151B2B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4407408"/>
            <a:ext cx="31546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📷 Image Diagnosis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Vision + explicit confidence → hands off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4297680"/>
            <a:ext cx="3429000" cy="1417320"/>
          </a:xfrm>
          <a:prstGeom prst="roundRect">
            <a:avLst/>
          </a:prstGeom>
          <a:solidFill>
            <a:srgbClr val="151B2B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4407408"/>
            <a:ext cx="31546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💰 Market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94A3B8"/>
                </a:solidFill>
                <a:latin typeface="Segoe UI"/>
              </a:rPr>
              <a:t>Approximate reference prices, clearly labelled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KisanBot — Multi-Agent Farm Advisory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28016" cy="8229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B981"/>
                </a:solidFill>
                <a:latin typeface="Segoe UI"/>
              </a:rPr>
              <a:t>HOW IT WORKS</a:t>
            </a:r>
          </a:p>
          <a:p>
            <a:pPr algn="l"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Orchestration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2194560" cy="1005840"/>
          </a:xfrm>
          <a:prstGeom prst="roundRect">
            <a:avLst/>
          </a:prstGeom>
          <a:solidFill>
            <a:srgbClr val="151B2B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21945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Farmer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text · voice · photo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2011680"/>
            <a:ext cx="2468880" cy="100584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2011680"/>
            <a:ext cx="24688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Orchestrator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classify + route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1005840"/>
            <a:ext cx="4572000" cy="777240"/>
          </a:xfrm>
          <a:prstGeom prst="roundRect">
            <a:avLst/>
          </a:prstGeom>
          <a:solidFill>
            <a:srgbClr val="151B2B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005840"/>
            <a:ext cx="4572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Ask ONE clarifying question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if location/crop missing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2148840"/>
            <a:ext cx="4572000" cy="777240"/>
          </a:xfrm>
          <a:prstGeom prst="roundRect">
            <a:avLst/>
          </a:prstGeom>
          <a:solidFill>
            <a:srgbClr val="151B2B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2148840"/>
            <a:ext cx="4572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Specialist agent(s)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grounded in real tools/data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0" y="3291840"/>
            <a:ext cx="4572000" cy="777240"/>
          </a:xfrm>
          <a:prstGeom prst="roundRect">
            <a:avLst/>
          </a:prstGeom>
          <a:solidFill>
            <a:srgbClr val="151B2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3291840"/>
            <a:ext cx="4572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Compose one Urdu reply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+ disclaimer + confidence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4480560"/>
            <a:ext cx="2468880" cy="914400"/>
          </a:xfrm>
          <a:prstGeom prst="roundRect">
            <a:avLst/>
          </a:prstGeom>
          <a:solidFill>
            <a:srgbClr val="151B2B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4480560"/>
            <a:ext cx="24688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Farmer hears/reads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simple Urdu answer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017520" y="2514600"/>
            <a:ext cx="640080" cy="0"/>
          </a:xfrm>
          <a:prstGeom prst="bentConnector3">
            <a:avLst/>
          </a:prstGeom>
          <a:ln w="22225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26480" y="2514600"/>
            <a:ext cx="640080" cy="18288"/>
          </a:xfrm>
          <a:prstGeom prst="bentConnector3">
            <a:avLst/>
          </a:prstGeom>
          <a:ln w="22225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6126480" y="1371600"/>
            <a:ext cx="640080" cy="1005840"/>
          </a:xfrm>
          <a:prstGeom prst="bentConnector3">
            <a:avLst/>
          </a:prstGeom>
          <a:ln w="22225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052560" y="2926080"/>
            <a:ext cx="0" cy="365760"/>
          </a:xfrm>
          <a:prstGeom prst="bentConnector3">
            <a:avLst/>
          </a:prstGeom>
          <a:ln w="22225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4892040" y="3657600"/>
            <a:ext cx="1874520" cy="822960"/>
          </a:xfrm>
          <a:prstGeom prst="bentConnector3">
            <a:avLst/>
          </a:prstGeom>
          <a:ln w="22225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22960" y="566928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Lightweight LLM tool-calling — no heavy framework for 5–6 agents (per spec).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KisanBot — Multi-Agent Farm Advisory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28016" cy="82296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59E0B"/>
                </a:solidFill>
                <a:latin typeface="Segoe UI"/>
              </a:rPr>
              <a:t>THE HARD RULE</a:t>
            </a:r>
          </a:p>
          <a:p>
            <a:pPr algn="l"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Non-hallucination &amp; trust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E5E7EB"/>
                </a:solidFill>
                <a:latin typeface="Segoe UI"/>
              </a:rPr>
              <a:t>A farmer's livelihood is at stake — so every answer is honest or absent.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789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700" b="1">
                <a:solidFill>
                  <a:srgbClr val="F59E0B"/>
                </a:solidFill>
                <a:latin typeface="Segoe UI"/>
              </a:rPr>
              <a:t>•  </a:t>
            </a:r>
            <a:r>
              <a:rPr sz="1700" b="1">
                <a:solidFill>
                  <a:srgbClr val="E5E7EB"/>
                </a:solidFill>
                <a:latin typeface="Segoe UI"/>
              </a:rPr>
              <a:t>Never fabricate</a:t>
            </a:r>
            <a:r>
              <a:rPr sz="1700">
                <a:solidFill>
                  <a:srgbClr val="94A3B8"/>
                </a:solidFill>
                <a:latin typeface="Segoe UI"/>
              </a:rPr>
              <a:t> — removed the random-seed NDVI and month-hardcoded weather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F59E0B"/>
                </a:solidFill>
                <a:latin typeface="Segoe UI"/>
              </a:rPr>
              <a:t>•  </a:t>
            </a:r>
            <a:r>
              <a:rPr sz="1700" b="1">
                <a:solidFill>
                  <a:srgbClr val="E5E7EB"/>
                </a:solidFill>
                <a:latin typeface="Segoe UI"/>
              </a:rPr>
              <a:t>Honest failures</a:t>
            </a:r>
            <a:r>
              <a:rPr sz="1700">
                <a:solidFill>
                  <a:srgbClr val="94A3B8"/>
                </a:solidFill>
                <a:latin typeface="Segoe UI"/>
              </a:rPr>
              <a:t> — if data is unavailable, say so in Urdu and point to a human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F59E0B"/>
                </a:solidFill>
                <a:latin typeface="Segoe UI"/>
              </a:rPr>
              <a:t>•  </a:t>
            </a:r>
            <a:r>
              <a:rPr sz="1700" b="1">
                <a:solidFill>
                  <a:srgbClr val="E5E7EB"/>
                </a:solidFill>
                <a:latin typeface="Segoe UI"/>
              </a:rPr>
              <a:t>Ask, don't assume</a:t>
            </a:r>
            <a:r>
              <a:rPr sz="1700">
                <a:solidFill>
                  <a:srgbClr val="94A3B8"/>
                </a:solidFill>
                <a:latin typeface="Segoe UI"/>
              </a:rPr>
              <a:t> — missing location/crop/symptom → one clarifying question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F59E0B"/>
                </a:solidFill>
                <a:latin typeface="Segoe UI"/>
              </a:rPr>
              <a:t>•  </a:t>
            </a:r>
            <a:r>
              <a:rPr sz="1700" b="1">
                <a:solidFill>
                  <a:srgbClr val="E5E7EB"/>
                </a:solidFill>
                <a:latin typeface="Segoe UI"/>
              </a:rPr>
              <a:t>State confidence</a:t>
            </a:r>
            <a:r>
              <a:rPr sz="1700">
                <a:solidFill>
                  <a:srgbClr val="94A3B8"/>
                </a:solidFill>
                <a:latin typeface="Segoe UI"/>
              </a:rPr>
              <a:t> — low confidence + high stakes → 'confirm with your ag officer'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F59E0B"/>
                </a:solidFill>
                <a:latin typeface="Segoe UI"/>
              </a:rPr>
              <a:t>•  </a:t>
            </a:r>
            <a:r>
              <a:rPr sz="1700" b="1">
                <a:solidFill>
                  <a:srgbClr val="E5E7EB"/>
                </a:solidFill>
                <a:latin typeface="Segoe UI"/>
              </a:rPr>
              <a:t>Pesticide safety</a:t>
            </a:r>
            <a:r>
              <a:rPr sz="1700">
                <a:solidFill>
                  <a:srgbClr val="94A3B8"/>
                </a:solidFill>
                <a:latin typeface="Segoe UI"/>
              </a:rPr>
              <a:t> — cultural controls first · banned list screened · dose never invented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F59E0B"/>
                </a:solidFill>
                <a:latin typeface="Segoe UI"/>
              </a:rPr>
              <a:t>•  </a:t>
            </a:r>
            <a:r>
              <a:rPr sz="1700" b="1">
                <a:solidFill>
                  <a:srgbClr val="E5E7EB"/>
                </a:solidFill>
                <a:latin typeface="Segoe UI"/>
              </a:rPr>
              <a:t>Traceability</a:t>
            </a:r>
            <a:r>
              <a:rPr sz="1700">
                <a:solidFill>
                  <a:srgbClr val="94A3B8"/>
                </a:solidFill>
                <a:latin typeface="Segoe UI"/>
              </a:rPr>
              <a:t> — every answer logs which agent + which data source produced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KisanBot — Multi-Agent Farm Advisory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28016" cy="82296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B82F6"/>
                </a:solidFill>
                <a:latin typeface="Segoe UI"/>
              </a:rPr>
              <a:t>GROUNDED IN</a:t>
            </a:r>
          </a:p>
          <a:p>
            <a:pPr algn="l"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Data sources &amp; APIs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607040" cy="713232"/>
          </a:xfrm>
          <a:prstGeom prst="roundRect">
            <a:avLst/>
          </a:prstGeom>
          <a:solidFill>
            <a:srgbClr val="15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3017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0B981"/>
                </a:solidFill>
                <a:latin typeface="Segoe UI"/>
              </a:rPr>
              <a:t>Gemini 2.5 Flash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1783080"/>
            <a:ext cx="36576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5E7EB"/>
                </a:solidFill>
                <a:latin typeface="Segoe UI"/>
              </a:rPr>
              <a:t>Agent intelligence + image diagnosis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783080"/>
            <a:ext cx="35661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behind a swappable LLM interface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569464"/>
            <a:ext cx="10607040" cy="713232"/>
          </a:xfrm>
          <a:prstGeom prst="roundRect">
            <a:avLst/>
          </a:prstGeom>
          <a:solidFill>
            <a:srgbClr val="15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69464"/>
            <a:ext cx="3017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0B981"/>
                </a:solidFill>
                <a:latin typeface="Segoe UI"/>
              </a:rPr>
              <a:t>Google Weather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569464"/>
            <a:ext cx="36576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5E7EB"/>
                </a:solidFill>
                <a:latin typeface="Segoe UI"/>
              </a:rPr>
              <a:t>Live conditions + forecast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569464"/>
            <a:ext cx="35661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needs Google Maps key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355848"/>
            <a:ext cx="10607040" cy="713232"/>
          </a:xfrm>
          <a:prstGeom prst="roundRect">
            <a:avLst/>
          </a:prstGeom>
          <a:solidFill>
            <a:srgbClr val="15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355848"/>
            <a:ext cx="3017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0B981"/>
                </a:solidFill>
                <a:latin typeface="Segoe UI"/>
              </a:rPr>
              <a:t>Google Geocoding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3355848"/>
            <a:ext cx="36576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5E7EB"/>
                </a:solidFill>
                <a:latin typeface="Segoe UI"/>
              </a:rPr>
              <a:t>Village/district → coordinates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355848"/>
            <a:ext cx="35661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falls back to bundled regions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142232"/>
            <a:ext cx="10607040" cy="713232"/>
          </a:xfrm>
          <a:prstGeom prst="roundRect">
            <a:avLst/>
          </a:prstGeom>
          <a:solidFill>
            <a:srgbClr val="15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142232"/>
            <a:ext cx="3017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0B981"/>
                </a:solidFill>
                <a:latin typeface="Segoe UI"/>
              </a:rPr>
              <a:t>ISRIC SoilGrids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4142232"/>
            <a:ext cx="36576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5E7EB"/>
                </a:solidFill>
                <a:latin typeface="Segoe UI"/>
              </a:rPr>
              <a:t>Real soil: pH, texture, carbon…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142232"/>
            <a:ext cx="35661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pre-fetched &amp; cached, never live per request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928616"/>
            <a:ext cx="10607040" cy="713232"/>
          </a:xfrm>
          <a:prstGeom prst="roundRect">
            <a:avLst/>
          </a:prstGeom>
          <a:solidFill>
            <a:srgbClr val="15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928616"/>
            <a:ext cx="3017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0B981"/>
                </a:solidFill>
                <a:latin typeface="Segoe UI"/>
              </a:rPr>
              <a:t>Pesticide reference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4928616"/>
            <a:ext cx="36576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5E7EB"/>
                </a:solidFill>
                <a:latin typeface="Segoe UI"/>
              </a:rPr>
              <a:t>Banned-list screening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4928616"/>
            <a:ext cx="35661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curated; pending official DPP sign-off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715000"/>
            <a:ext cx="10607040" cy="713232"/>
          </a:xfrm>
          <a:prstGeom prst="roundRect">
            <a:avLst/>
          </a:prstGeom>
          <a:solidFill>
            <a:srgbClr val="15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715000"/>
            <a:ext cx="3017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0B981"/>
                </a:solidFill>
                <a:latin typeface="Segoe UI"/>
              </a:rPr>
              <a:t>Browser Web Speech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5715000"/>
            <a:ext cx="36576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E5E7EB"/>
                </a:solidFill>
                <a:latin typeface="Segoe UI"/>
              </a:rPr>
              <a:t>Urdu voice in/out (ur-PK)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5715000"/>
            <a:ext cx="35661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swappable for Google/Azure later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KisanBot — Multi-Agent Farm Advisory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28016" cy="8229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B981"/>
                </a:solidFill>
                <a:latin typeface="Segoe UI"/>
              </a:rPr>
              <a:t>BUILT FOR THE FIELD</a:t>
            </a:r>
          </a:p>
          <a:p>
            <a:pPr algn="l"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Urdu-first, voice-first 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5486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600" b="1">
                <a:solidFill>
                  <a:srgbClr val="10B981"/>
                </a:solidFill>
                <a:latin typeface="Segoe UI"/>
              </a:rPr>
              <a:t>•  </a:t>
            </a:r>
            <a:r>
              <a:rPr sz="1600" b="1">
                <a:solidFill>
                  <a:srgbClr val="E5E7EB"/>
                </a:solidFill>
                <a:latin typeface="Segoe UI"/>
              </a:rPr>
              <a:t>Urdu-first by default</a:t>
            </a:r>
            <a:r>
              <a:rPr sz="1600">
                <a:solidFill>
                  <a:srgbClr val="94A3B8"/>
                </a:solidFill>
                <a:latin typeface="Segoe UI"/>
              </a:rPr>
              <a:t> — no stray English shown to the farmer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10B981"/>
                </a:solidFill>
                <a:latin typeface="Segoe UI"/>
              </a:rPr>
              <a:t>•  </a:t>
            </a:r>
            <a:r>
              <a:rPr sz="1600" b="1">
                <a:solidFill>
                  <a:srgbClr val="E5E7EB"/>
                </a:solidFill>
                <a:latin typeface="Segoe UI"/>
              </a:rPr>
              <a:t>Voice in &amp; out</a:t>
            </a:r>
            <a:r>
              <a:rPr sz="1600">
                <a:solidFill>
                  <a:srgbClr val="94A3B8"/>
                </a:solidFill>
                <a:latin typeface="Segoe UI"/>
              </a:rPr>
              <a:t> — speak or type — your choice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10B981"/>
                </a:solidFill>
                <a:latin typeface="Segoe UI"/>
              </a:rPr>
              <a:t>•  </a:t>
            </a:r>
            <a:r>
              <a:rPr sz="1600" b="1">
                <a:solidFill>
                  <a:srgbClr val="E5E7EB"/>
                </a:solidFill>
                <a:latin typeface="Segoe UI"/>
              </a:rPr>
              <a:t>One big camera button</a:t>
            </a:r>
            <a:r>
              <a:rPr sz="1600">
                <a:solidFill>
                  <a:srgbClr val="94A3B8"/>
                </a:solidFill>
                <a:latin typeface="Segoe UI"/>
              </a:rPr>
              <a:t> — photo → instant diagnosis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10B981"/>
                </a:solidFill>
                <a:latin typeface="Segoe UI"/>
              </a:rPr>
              <a:t>•  </a:t>
            </a:r>
            <a:r>
              <a:rPr sz="1600" b="1">
                <a:solidFill>
                  <a:srgbClr val="E5E7EB"/>
                </a:solidFill>
                <a:latin typeface="Segoe UI"/>
              </a:rPr>
              <a:t>One question at a time</a:t>
            </a:r>
            <a:r>
              <a:rPr sz="1600">
                <a:solidFill>
                  <a:srgbClr val="94A3B8"/>
                </a:solidFill>
                <a:latin typeface="Segoe UI"/>
              </a:rPr>
              <a:t> — no deep menus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10B981"/>
                </a:solidFill>
                <a:latin typeface="Segoe UI"/>
              </a:rPr>
              <a:t>•  </a:t>
            </a:r>
            <a:r>
              <a:rPr sz="1600" b="1">
                <a:solidFill>
                  <a:srgbClr val="E5E7EB"/>
                </a:solidFill>
                <a:latin typeface="Segoe UI"/>
              </a:rPr>
              <a:t>Always-visible helpline</a:t>
            </a:r>
            <a:r>
              <a:rPr sz="1600">
                <a:solidFill>
                  <a:srgbClr val="94A3B8"/>
                </a:solidFill>
                <a:latin typeface="Segoe UI"/>
              </a:rPr>
              <a:t> — reach a real human anytime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10B981"/>
                </a:solidFill>
                <a:latin typeface="Segoe UI"/>
              </a:rPr>
              <a:t>•  </a:t>
            </a:r>
            <a:r>
              <a:rPr sz="1600" b="1">
                <a:solidFill>
                  <a:srgbClr val="E5E7EB"/>
                </a:solidFill>
                <a:latin typeface="Segoe UI"/>
              </a:rPr>
              <a:t>Light &amp; fault-tolerant</a:t>
            </a:r>
            <a:r>
              <a:rPr sz="1600">
                <a:solidFill>
                  <a:srgbClr val="94A3B8"/>
                </a:solidFill>
                <a:latin typeface="Segoe UI"/>
              </a:rPr>
              <a:t> — friendly Urdu message when offline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737360"/>
            <a:ext cx="4846320" cy="4206240"/>
          </a:xfrm>
          <a:prstGeom prst="roundRect">
            <a:avLst/>
          </a:prstGeom>
          <a:solidFill>
            <a:srgbClr val="151B2B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12280" y="1920240"/>
            <a:ext cx="448056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10B981"/>
                </a:solidFill>
                <a:latin typeface="Segoe UI"/>
              </a:rPr>
              <a:t>Example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5E7EB"/>
                </a:solidFill>
                <a:latin typeface="Segoe UI"/>
              </a:rPr>
              <a:t>Farmer: my crop's leaves have spots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Saathi: don't worry — please send a clear photo of the affected leaf</a:t>
            </a:r>
          </a:p>
          <a:p>
            <a:pPr algn="l">
              <a:spcAft>
                <a:spcPts val="1000"/>
              </a:spcAft>
            </a:pPr>
            <a:r>
              <a:rPr sz="1100" b="1">
                <a:solidFill>
                  <a:srgbClr val="3B82F6"/>
                </a:solidFill>
                <a:latin typeface="Segoe UI"/>
              </a:rPr>
              <a:t>[photo → Image Diagnosis → Crop Protection]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5E7EB"/>
                </a:solidFill>
                <a:latin typeface="Segoe UI"/>
              </a:rPr>
              <a:t>Saathi: this looks like leaf blight — I'm about 80% confident. Please also confirm at your nearest agriculture center.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KisanBot — Multi-Agent Farm Advisory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28016" cy="8229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B981"/>
                </a:solidFill>
                <a:latin typeface="Segoe UI"/>
              </a:rPr>
              <a:t>UNDER THE HOOD</a:t>
            </a:r>
          </a:p>
          <a:p>
            <a:pPr algn="l"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Tech stack &amp; structure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212080" cy="4297680"/>
          </a:xfrm>
          <a:prstGeom prst="roundRect">
            <a:avLst/>
          </a:prstGeom>
          <a:solidFill>
            <a:srgbClr val="15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84632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10B981"/>
                </a:solidFill>
                <a:latin typeface="Segoe UI"/>
              </a:rPr>
              <a:t>Backend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E5E7EB"/>
                </a:solidFill>
                <a:latin typeface="Segoe UI"/>
              </a:rPr>
              <a:t>Python · FastAPI (thin routing layer)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/agents  — orchestrator + 5 specialists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/services — llm, geocoding, weather, soil,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           pesticide, session, logging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/agents/prompts — each prompt in its own file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3B82F6"/>
                </a:solidFill>
                <a:latin typeface="Segoe UI"/>
              </a:rPr>
              <a:t>Endpoints: /api/chat · /api/diagnose · /health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12080" cy="4297680"/>
          </a:xfrm>
          <a:prstGeom prst="roundRect">
            <a:avLst/>
          </a:prstGeom>
          <a:solidFill>
            <a:srgbClr val="15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74519"/>
            <a:ext cx="484632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10B981"/>
                </a:solidFill>
                <a:latin typeface="Segoe UI"/>
              </a:rPr>
              <a:t>Frontend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E5E7EB"/>
                </a:solidFill>
                <a:latin typeface="Segoe UI"/>
              </a:rPr>
              <a:t>Single-page app (HTML/CSS/JS)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Urdu-first · voice · photo upload · helpline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Talks to the backend; offline rule fallback</a:t>
            </a:r>
          </a:p>
          <a:p>
            <a:pPr algn="l">
              <a:spcAft>
                <a:spcPts val="700"/>
              </a:spcAft>
            </a:pPr>
            <a:r>
              <a:rPr sz="600" b="0">
                <a:solidFill>
                  <a:srgbClr val="94A3B8"/>
                </a:solidFill>
                <a:latin typeface="Segoe UI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10B981"/>
                </a:solidFill>
                <a:latin typeface="Segoe UI"/>
              </a:rPr>
              <a:t>Config &amp; safety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Keys via env only (.env) — never hardcoded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Provider swappable (Gemini today → Claude ready)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KisanBot — Multi-Agent Farm Advisory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28016" cy="8229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0B981"/>
                </a:solidFill>
                <a:latin typeface="Segoe UI"/>
              </a:rPr>
              <a:t>STATUS</a:t>
            </a:r>
          </a:p>
          <a:p>
            <a:pPr algn="l"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Done &amp; verified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7899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10B981"/>
                </a:solidFill>
                <a:latin typeface="Segoe UI"/>
              </a:rPr>
              <a:t>•  </a:t>
            </a:r>
            <a:r>
              <a:rPr sz="1600" b="1">
                <a:solidFill>
                  <a:srgbClr val="E5E7EB"/>
                </a:solidFill>
                <a:latin typeface="Segoe UI"/>
              </a:rPr>
              <a:t>Real multi-agent system replaces the facade</a:t>
            </a:r>
            <a:r>
              <a:rPr sz="1600">
                <a:solidFill>
                  <a:srgbClr val="94A3B8"/>
                </a:solidFill>
                <a:latin typeface="Segoe UI"/>
              </a:rPr>
              <a:t> — orchestrator + 5 specialists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10B981"/>
                </a:solidFill>
                <a:latin typeface="Segoe UI"/>
              </a:rPr>
              <a:t>•  </a:t>
            </a:r>
            <a:r>
              <a:rPr sz="1600" b="1">
                <a:solidFill>
                  <a:srgbClr val="E5E7EB"/>
                </a:solidFill>
                <a:latin typeface="Segoe UI"/>
              </a:rPr>
              <a:t>Tested with a live Gemini key</a:t>
            </a:r>
            <a:r>
              <a:rPr sz="1600">
                <a:solidFill>
                  <a:srgbClr val="94A3B8"/>
                </a:solidFill>
                <a:latin typeface="Segoe UI"/>
              </a:rPr>
              <a:t> — greeting, crop advice, pest diagnosis all working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10B981"/>
                </a:solidFill>
                <a:latin typeface="Segoe UI"/>
              </a:rPr>
              <a:t>•  </a:t>
            </a:r>
            <a:r>
              <a:rPr sz="1600" b="1">
                <a:solidFill>
                  <a:srgbClr val="E5E7EB"/>
                </a:solidFill>
                <a:latin typeface="Segoe UI"/>
              </a:rPr>
              <a:t>Crop advice is location-specific</a:t>
            </a:r>
            <a:r>
              <a:rPr sz="1600">
                <a:solidFill>
                  <a:srgbClr val="94A3B8"/>
                </a:solidFill>
                <a:latin typeface="Segoe UI"/>
              </a:rPr>
              <a:t> — e.g. Multan kharif + canal water → cotton/maize/sugarcane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10B981"/>
                </a:solidFill>
                <a:latin typeface="Segoe UI"/>
              </a:rPr>
              <a:t>•  </a:t>
            </a:r>
            <a:r>
              <a:rPr sz="1600" b="1">
                <a:solidFill>
                  <a:srgbClr val="E5E7EB"/>
                </a:solidFill>
                <a:latin typeface="Segoe UI"/>
              </a:rPr>
              <a:t>Pest reply: cultural-first + safe pesticide + disclaimer</a:t>
            </a:r>
            <a:r>
              <a:rPr sz="1600">
                <a:solidFill>
                  <a:srgbClr val="94A3B8"/>
                </a:solidFill>
                <a:latin typeface="Segoe UI"/>
              </a:rPr>
              <a:t> — banned substances stripped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10B981"/>
                </a:solidFill>
                <a:latin typeface="Segoe UI"/>
              </a:rPr>
              <a:t>•  </a:t>
            </a:r>
            <a:r>
              <a:rPr sz="1600" b="1">
                <a:solidFill>
                  <a:srgbClr val="E5E7EB"/>
                </a:solidFill>
                <a:latin typeface="Segoe UI"/>
              </a:rPr>
              <a:t>11/11 routing scenarios pass</a:t>
            </a:r>
            <a:r>
              <a:rPr sz="1600">
                <a:solidFill>
                  <a:srgbClr val="94A3B8"/>
                </a:solidFill>
                <a:latin typeface="Segoe UI"/>
              </a:rPr>
              <a:t> — offline test needs no API key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029200"/>
            <a:ext cx="10607040" cy="1005840"/>
          </a:xfrm>
          <a:prstGeom prst="roundRect">
            <a:avLst/>
          </a:prstGeom>
          <a:solidFill>
            <a:srgbClr val="151B2B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5074920"/>
            <a:ext cx="10241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5E7EB"/>
                </a:solidFill>
                <a:latin typeface="Segoe UI"/>
              </a:rPr>
              <a:t>Verified: python tests/scenarios.py → ALL ROUTING PASSED  ·  live Gemini end-to-end confirmed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KisanBot — Multi-Agent Farm Advisory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28016" cy="82296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7899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59E0B"/>
                </a:solidFill>
                <a:latin typeface="Segoe UI"/>
              </a:rPr>
              <a:t>BEFORE REAL FARMERS</a:t>
            </a:r>
          </a:p>
          <a:p>
            <a:pPr algn="l"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Open items (developer sign-off)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700" b="1">
                <a:solidFill>
                  <a:srgbClr val="F59E0B"/>
                </a:solidFill>
                <a:latin typeface="Segoe UI"/>
              </a:rPr>
              <a:t>•  </a:t>
            </a:r>
            <a:r>
              <a:rPr sz="1700" b="1">
                <a:solidFill>
                  <a:srgbClr val="E5E7EB"/>
                </a:solidFill>
                <a:latin typeface="Segoe UI"/>
              </a:rPr>
              <a:t>Google Maps API key</a:t>
            </a:r>
            <a:r>
              <a:rPr sz="1700">
                <a:solidFill>
                  <a:srgbClr val="94A3B8"/>
                </a:solidFill>
                <a:latin typeface="Segoe UI"/>
              </a:rPr>
              <a:t> — turns on live weather (everything else already works)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F59E0B"/>
                </a:solidFill>
                <a:latin typeface="Segoe UI"/>
              </a:rPr>
              <a:t>•  </a:t>
            </a:r>
            <a:r>
              <a:rPr sz="1700" b="1">
                <a:solidFill>
                  <a:srgbClr val="E5E7EB"/>
                </a:solidFill>
                <a:latin typeface="Segoe UI"/>
              </a:rPr>
              <a:t>Rotate the Gemini key</a:t>
            </a:r>
            <a:r>
              <a:rPr sz="1700">
                <a:solidFill>
                  <a:srgbClr val="94A3B8"/>
                </a:solidFill>
                <a:latin typeface="Segoe UI"/>
              </a:rPr>
              <a:t> — regenerate a fresh one for security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F59E0B"/>
                </a:solidFill>
                <a:latin typeface="Segoe UI"/>
              </a:rPr>
              <a:t>•  </a:t>
            </a:r>
            <a:r>
              <a:rPr sz="1700" b="1">
                <a:solidFill>
                  <a:srgbClr val="E5E7EB"/>
                </a:solidFill>
                <a:latin typeface="Segoe UI"/>
              </a:rPr>
              <a:t>Verify pesticide list</a:t>
            </a:r>
            <a:r>
              <a:rPr sz="1700">
                <a:solidFill>
                  <a:srgbClr val="94A3B8"/>
                </a:solidFill>
                <a:latin typeface="Segoe UI"/>
              </a:rPr>
              <a:t> — check data against the official DPP source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F59E0B"/>
                </a:solidFill>
                <a:latin typeface="Segoe UI"/>
              </a:rPr>
              <a:t>•  </a:t>
            </a:r>
            <a:r>
              <a:rPr sz="1700" b="1">
                <a:solidFill>
                  <a:srgbClr val="E5E7EB"/>
                </a:solidFill>
                <a:latin typeface="Segoe UI"/>
              </a:rPr>
              <a:t>Verify / localize helpline number</a:t>
            </a:r>
            <a:r>
              <a:rPr sz="1700">
                <a:solidFill>
                  <a:srgbClr val="94A3B8"/>
                </a:solidFill>
                <a:latin typeface="Segoe UI"/>
              </a:rPr>
              <a:t> — per the user's province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F59E0B"/>
                </a:solidFill>
                <a:latin typeface="Segoe UI"/>
              </a:rPr>
              <a:t>•  </a:t>
            </a:r>
            <a:r>
              <a:rPr sz="1700" b="1">
                <a:solidFill>
                  <a:srgbClr val="E5E7EB"/>
                </a:solidFill>
                <a:latin typeface="Segoe UI"/>
              </a:rPr>
              <a:t>Populate soil cache</a:t>
            </a:r>
            <a:r>
              <a:rPr sz="1700">
                <a:solidFill>
                  <a:srgbClr val="94A3B8"/>
                </a:solidFill>
                <a:latin typeface="Segoe UI"/>
              </a:rPr>
              <a:t> — run scripts/prefetch_soil.py once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F59E0B"/>
                </a:solidFill>
                <a:latin typeface="Segoe UI"/>
              </a:rPr>
              <a:t>•  </a:t>
            </a:r>
            <a:r>
              <a:rPr sz="1700" b="1">
                <a:solidFill>
                  <a:srgbClr val="E5E7EB"/>
                </a:solidFill>
                <a:latin typeface="Segoe UI"/>
              </a:rPr>
              <a:t>Native Urdu review</a:t>
            </a:r>
            <a:r>
              <a:rPr sz="1700">
                <a:solidFill>
                  <a:srgbClr val="94A3B8"/>
                </a:solidFill>
                <a:latin typeface="Segoe UI"/>
              </a:rPr>
              <a:t> — have a speaker check the tone before shipping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KisanBot — Multi-Agent Farm Advisory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270955200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Grounded. Honest. In Urdu.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38328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E5E7EB"/>
                </a:solidFill>
                <a:latin typeface="Segoe UI"/>
              </a:rPr>
              <a:t>A farm advisor that delegates to specialists, refuses to guess, and always offers a way to reach a real human.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4846320"/>
            <a:ext cx="5669280" cy="640080"/>
          </a:xfrm>
          <a:prstGeom prst="roundRect">
            <a:avLst/>
          </a:prstGeom>
          <a:solidFill>
            <a:srgbClr val="151B2B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864608"/>
            <a:ext cx="566928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0B981"/>
                </a:solidFill>
                <a:latin typeface="Segoe UI"/>
              </a:rPr>
              <a:t>Run:  python server.py  →  open index.html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